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6" r:id="rId1"/>
    <p:sldMasterId id="2147483807" r:id="rId2"/>
  </p:sldMasterIdLst>
  <p:notesMasterIdLst>
    <p:notesMasterId r:id="rId41"/>
  </p:notesMasterIdLst>
  <p:handoutMasterIdLst>
    <p:handoutMasterId r:id="rId42"/>
  </p:handoutMasterIdLst>
  <p:sldIdLst>
    <p:sldId id="279" r:id="rId3"/>
    <p:sldId id="280" r:id="rId4"/>
    <p:sldId id="460" r:id="rId5"/>
    <p:sldId id="459" r:id="rId6"/>
    <p:sldId id="452" r:id="rId7"/>
    <p:sldId id="453" r:id="rId8"/>
    <p:sldId id="454" r:id="rId9"/>
    <p:sldId id="455" r:id="rId10"/>
    <p:sldId id="456" r:id="rId11"/>
    <p:sldId id="457" r:id="rId12"/>
    <p:sldId id="461" r:id="rId13"/>
    <p:sldId id="462" r:id="rId14"/>
    <p:sldId id="463" r:id="rId15"/>
    <p:sldId id="464" r:id="rId16"/>
    <p:sldId id="336" r:id="rId17"/>
    <p:sldId id="466" r:id="rId18"/>
    <p:sldId id="337" r:id="rId19"/>
    <p:sldId id="467" r:id="rId20"/>
    <p:sldId id="468" r:id="rId21"/>
    <p:sldId id="469" r:id="rId22"/>
    <p:sldId id="470" r:id="rId23"/>
    <p:sldId id="471" r:id="rId24"/>
    <p:sldId id="472" r:id="rId25"/>
    <p:sldId id="442" r:id="rId26"/>
    <p:sldId id="443" r:id="rId27"/>
    <p:sldId id="444" r:id="rId28"/>
    <p:sldId id="445" r:id="rId29"/>
    <p:sldId id="474" r:id="rId30"/>
    <p:sldId id="328" r:id="rId31"/>
    <p:sldId id="329" r:id="rId32"/>
    <p:sldId id="330" r:id="rId33"/>
    <p:sldId id="331" r:id="rId34"/>
    <p:sldId id="476" r:id="rId35"/>
    <p:sldId id="332" r:id="rId36"/>
    <p:sldId id="333" r:id="rId37"/>
    <p:sldId id="334" r:id="rId38"/>
    <p:sldId id="335" r:id="rId39"/>
    <p:sldId id="47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0E3B"/>
    <a:srgbClr val="0095D5"/>
    <a:srgbClr val="009FDF"/>
    <a:srgbClr val="041E42"/>
    <a:srgbClr val="2338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EDC65-2814-4945-AE3B-42F7CC29B15A}" v="2" dt="2023-12-03T15:50:02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74"/>
  </p:normalViewPr>
  <p:slideViewPr>
    <p:cSldViewPr snapToGrid="0" snapToObjects="1">
      <p:cViewPr varScale="1">
        <p:scale>
          <a:sx n="106" d="100"/>
          <a:sy n="106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4" d="100"/>
          <a:sy n="74" d="100"/>
        </p:scale>
        <p:origin x="207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ser, Simon" userId="938a3ba4-1245-47ad-a85f-392b3ba5632d" providerId="ADAL" clId="{464EDC65-2814-4945-AE3B-42F7CC29B15A}"/>
    <pc:docChg chg="undo custSel addSld delSld modSld">
      <pc:chgData name="Fraser, Simon" userId="938a3ba4-1245-47ad-a85f-392b3ba5632d" providerId="ADAL" clId="{464EDC65-2814-4945-AE3B-42F7CC29B15A}" dt="2023-12-03T15:50:16.539" v="742" actId="14100"/>
      <pc:docMkLst>
        <pc:docMk/>
      </pc:docMkLst>
      <pc:sldChg chg="modSp mod">
        <pc:chgData name="Fraser, Simon" userId="938a3ba4-1245-47ad-a85f-392b3ba5632d" providerId="ADAL" clId="{464EDC65-2814-4945-AE3B-42F7CC29B15A}" dt="2023-12-03T15:41:14.122" v="630" actId="20577"/>
        <pc:sldMkLst>
          <pc:docMk/>
          <pc:sldMk cId="3230446759" sldId="280"/>
        </pc:sldMkLst>
        <pc:spChg chg="mod">
          <ac:chgData name="Fraser, Simon" userId="938a3ba4-1245-47ad-a85f-392b3ba5632d" providerId="ADAL" clId="{464EDC65-2814-4945-AE3B-42F7CC29B15A}" dt="2023-12-03T15:41:14.122" v="630" actId="20577"/>
          <ac:spMkLst>
            <pc:docMk/>
            <pc:sldMk cId="3230446759" sldId="280"/>
            <ac:spMk id="5" creationId="{2BB723A0-7BE2-44FC-964C-C06DF7A18B83}"/>
          </ac:spMkLst>
        </pc:spChg>
      </pc:sldChg>
      <pc:sldChg chg="modSp add mod">
        <pc:chgData name="Fraser, Simon" userId="938a3ba4-1245-47ad-a85f-392b3ba5632d" providerId="ADAL" clId="{464EDC65-2814-4945-AE3B-42F7CC29B15A}" dt="2023-12-03T15:46:01.533" v="730" actId="1076"/>
        <pc:sldMkLst>
          <pc:docMk/>
          <pc:sldMk cId="3847838458" sldId="328"/>
        </pc:sldMkLst>
        <pc:spChg chg="mod">
          <ac:chgData name="Fraser, Simon" userId="938a3ba4-1245-47ad-a85f-392b3ba5632d" providerId="ADAL" clId="{464EDC65-2814-4945-AE3B-42F7CC29B15A}" dt="2023-12-03T15:45:49.459" v="728" actId="20577"/>
          <ac:spMkLst>
            <pc:docMk/>
            <pc:sldMk cId="3847838458" sldId="328"/>
            <ac:spMk id="3" creationId="{15A53D02-E0B3-7B9A-4235-B8D2BF3E046C}"/>
          </ac:spMkLst>
        </pc:spChg>
        <pc:spChg chg="mod">
          <ac:chgData name="Fraser, Simon" userId="938a3ba4-1245-47ad-a85f-392b3ba5632d" providerId="ADAL" clId="{464EDC65-2814-4945-AE3B-42F7CC29B15A}" dt="2023-12-03T15:46:00.484" v="729"/>
          <ac:spMkLst>
            <pc:docMk/>
            <pc:sldMk cId="3847838458" sldId="328"/>
            <ac:spMk id="4" creationId="{A69C1A55-B2E4-5D5C-57EF-C19263024200}"/>
          </ac:spMkLst>
        </pc:spChg>
        <pc:picChg chg="mod">
          <ac:chgData name="Fraser, Simon" userId="938a3ba4-1245-47ad-a85f-392b3ba5632d" providerId="ADAL" clId="{464EDC65-2814-4945-AE3B-42F7CC29B15A}" dt="2023-12-03T15:46:01.533" v="730" actId="1076"/>
          <ac:picMkLst>
            <pc:docMk/>
            <pc:sldMk cId="3847838458" sldId="328"/>
            <ac:picMk id="6" creationId="{C381E42F-E9D4-2956-72D2-7AE676447D0F}"/>
          </ac:picMkLst>
        </pc:picChg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688329045" sldId="329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2782518830" sldId="330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3669654432" sldId="331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2542696620" sldId="332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1055859374" sldId="333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3463485931" sldId="334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1829537791" sldId="335"/>
        </pc:sldMkLst>
      </pc:sldChg>
      <pc:sldChg chg="addSp delSp modSp mod modClrScheme chgLayout">
        <pc:chgData name="Fraser, Simon" userId="938a3ba4-1245-47ad-a85f-392b3ba5632d" providerId="ADAL" clId="{464EDC65-2814-4945-AE3B-42F7CC29B15A}" dt="2023-12-03T15:41:31.012" v="632" actId="700"/>
        <pc:sldMkLst>
          <pc:docMk/>
          <pc:sldMk cId="583475146" sldId="445"/>
        </pc:sldMkLst>
        <pc:spChg chg="mod ord">
          <ac:chgData name="Fraser, Simon" userId="938a3ba4-1245-47ad-a85f-392b3ba5632d" providerId="ADAL" clId="{464EDC65-2814-4945-AE3B-42F7CC29B15A}" dt="2023-12-03T15:41:31.012" v="632" actId="700"/>
          <ac:spMkLst>
            <pc:docMk/>
            <pc:sldMk cId="583475146" sldId="445"/>
            <ac:spMk id="2" creationId="{908F0E50-AEA7-C970-41E1-D85DACA3E1DF}"/>
          </ac:spMkLst>
        </pc:spChg>
        <pc:spChg chg="add del">
          <ac:chgData name="Fraser, Simon" userId="938a3ba4-1245-47ad-a85f-392b3ba5632d" providerId="ADAL" clId="{464EDC65-2814-4945-AE3B-42F7CC29B15A}" dt="2023-12-03T15:41:31.012" v="632" actId="700"/>
          <ac:spMkLst>
            <pc:docMk/>
            <pc:sldMk cId="583475146" sldId="445"/>
            <ac:spMk id="3" creationId="{28298384-13C2-426E-81C0-83C32AE5DC80}"/>
          </ac:spMkLst>
        </pc:spChg>
        <pc:spChg chg="mod ord">
          <ac:chgData name="Fraser, Simon" userId="938a3ba4-1245-47ad-a85f-392b3ba5632d" providerId="ADAL" clId="{464EDC65-2814-4945-AE3B-42F7CC29B15A}" dt="2023-12-03T15:41:31.012" v="632" actId="700"/>
          <ac:spMkLst>
            <pc:docMk/>
            <pc:sldMk cId="583475146" sldId="445"/>
            <ac:spMk id="4" creationId="{FE640BD0-F2A4-4908-D622-79324FAD0FF6}"/>
          </ac:spMkLst>
        </pc:spChg>
      </pc:sldChg>
      <pc:sldChg chg="modSp mod">
        <pc:chgData name="Fraser, Simon" userId="938a3ba4-1245-47ad-a85f-392b3ba5632d" providerId="ADAL" clId="{464EDC65-2814-4945-AE3B-42F7CC29B15A}" dt="2023-12-03T15:50:16.539" v="742" actId="14100"/>
        <pc:sldMkLst>
          <pc:docMk/>
          <pc:sldMk cId="3746267312" sldId="466"/>
        </pc:sldMkLst>
        <pc:spChg chg="mod">
          <ac:chgData name="Fraser, Simon" userId="938a3ba4-1245-47ad-a85f-392b3ba5632d" providerId="ADAL" clId="{464EDC65-2814-4945-AE3B-42F7CC29B15A}" dt="2023-12-03T15:50:16.539" v="742" actId="14100"/>
          <ac:spMkLst>
            <pc:docMk/>
            <pc:sldMk cId="3746267312" sldId="466"/>
            <ac:spMk id="4" creationId="{344C9083-E549-230E-EB1F-D4B18A190AFB}"/>
          </ac:spMkLst>
        </pc:spChg>
      </pc:sldChg>
      <pc:sldChg chg="modSp new mod">
        <pc:chgData name="Fraser, Simon" userId="938a3ba4-1245-47ad-a85f-392b3ba5632d" providerId="ADAL" clId="{464EDC65-2814-4945-AE3B-42F7CC29B15A}" dt="2023-12-03T15:36:29.003" v="557" actId="20577"/>
        <pc:sldMkLst>
          <pc:docMk/>
          <pc:sldMk cId="474082294" sldId="473"/>
        </pc:sldMkLst>
        <pc:spChg chg="mod">
          <ac:chgData name="Fraser, Simon" userId="938a3ba4-1245-47ad-a85f-392b3ba5632d" providerId="ADAL" clId="{464EDC65-2814-4945-AE3B-42F7CC29B15A}" dt="2023-12-03T15:36:29.003" v="557" actId="20577"/>
          <ac:spMkLst>
            <pc:docMk/>
            <pc:sldMk cId="474082294" sldId="473"/>
            <ac:spMk id="3" creationId="{D0E932F7-7C23-8637-2AA8-477F7006BA0F}"/>
          </ac:spMkLst>
        </pc:spChg>
        <pc:spChg chg="mod">
          <ac:chgData name="Fraser, Simon" userId="938a3ba4-1245-47ad-a85f-392b3ba5632d" providerId="ADAL" clId="{464EDC65-2814-4945-AE3B-42F7CC29B15A}" dt="2023-12-03T15:35:48.888" v="391" actId="20577"/>
          <ac:spMkLst>
            <pc:docMk/>
            <pc:sldMk cId="474082294" sldId="473"/>
            <ac:spMk id="4" creationId="{E19DE56E-9AF9-E7C1-9CA2-F320FD191815}"/>
          </ac:spMkLst>
        </pc:spChg>
      </pc:sldChg>
      <pc:sldChg chg="del">
        <pc:chgData name="Fraser, Simon" userId="938a3ba4-1245-47ad-a85f-392b3ba5632d" providerId="ADAL" clId="{464EDC65-2814-4945-AE3B-42F7CC29B15A}" dt="2023-12-03T15:34:00.857" v="0" actId="47"/>
        <pc:sldMkLst>
          <pc:docMk/>
          <pc:sldMk cId="3924848894" sldId="473"/>
        </pc:sldMkLst>
      </pc:sldChg>
      <pc:sldChg chg="addSp delSp modSp new mod modClrScheme chgLayout">
        <pc:chgData name="Fraser, Simon" userId="938a3ba4-1245-47ad-a85f-392b3ba5632d" providerId="ADAL" clId="{464EDC65-2814-4945-AE3B-42F7CC29B15A}" dt="2023-12-03T15:42:10.623" v="690" actId="20577"/>
        <pc:sldMkLst>
          <pc:docMk/>
          <pc:sldMk cId="1266180303" sldId="474"/>
        </pc:sldMkLst>
        <pc:spChg chg="mod ord">
          <ac:chgData name="Fraser, Simon" userId="938a3ba4-1245-47ad-a85f-392b3ba5632d" providerId="ADAL" clId="{464EDC65-2814-4945-AE3B-42F7CC29B15A}" dt="2023-12-03T15:41:36.383" v="634" actId="700"/>
          <ac:spMkLst>
            <pc:docMk/>
            <pc:sldMk cId="1266180303" sldId="474"/>
            <ac:spMk id="2" creationId="{A910E999-51F9-FD1A-07CF-A85C371ACEB1}"/>
          </ac:spMkLst>
        </pc:spChg>
        <pc:spChg chg="del">
          <ac:chgData name="Fraser, Simon" userId="938a3ba4-1245-47ad-a85f-392b3ba5632d" providerId="ADAL" clId="{464EDC65-2814-4945-AE3B-42F7CC29B15A}" dt="2023-12-03T15:41:36.383" v="634" actId="700"/>
          <ac:spMkLst>
            <pc:docMk/>
            <pc:sldMk cId="1266180303" sldId="474"/>
            <ac:spMk id="3" creationId="{7E1F51D3-A582-F60B-245B-866633DBD254}"/>
          </ac:spMkLst>
        </pc:spChg>
        <pc:spChg chg="del mod ord">
          <ac:chgData name="Fraser, Simon" userId="938a3ba4-1245-47ad-a85f-392b3ba5632d" providerId="ADAL" clId="{464EDC65-2814-4945-AE3B-42F7CC29B15A}" dt="2023-12-03T15:41:36.383" v="634" actId="700"/>
          <ac:spMkLst>
            <pc:docMk/>
            <pc:sldMk cId="1266180303" sldId="474"/>
            <ac:spMk id="4" creationId="{BEE84A90-3451-FD7A-0DEB-2B6CA41A8875}"/>
          </ac:spMkLst>
        </pc:spChg>
        <pc:spChg chg="add mod ord">
          <ac:chgData name="Fraser, Simon" userId="938a3ba4-1245-47ad-a85f-392b3ba5632d" providerId="ADAL" clId="{464EDC65-2814-4945-AE3B-42F7CC29B15A}" dt="2023-12-03T15:42:10.623" v="690" actId="20577"/>
          <ac:spMkLst>
            <pc:docMk/>
            <pc:sldMk cId="1266180303" sldId="474"/>
            <ac:spMk id="5" creationId="{B7ED5ECF-F249-55E8-C717-292127ECD3FF}"/>
          </ac:spMkLst>
        </pc:spChg>
      </pc:sldChg>
      <pc:sldChg chg="del">
        <pc:chgData name="Fraser, Simon" userId="938a3ba4-1245-47ad-a85f-392b3ba5632d" providerId="ADAL" clId="{464EDC65-2814-4945-AE3B-42F7CC29B15A}" dt="2023-12-03T15:34:00.857" v="0" actId="47"/>
        <pc:sldMkLst>
          <pc:docMk/>
          <pc:sldMk cId="2234689177" sldId="474"/>
        </pc:sldMkLst>
      </pc:sldChg>
      <pc:sldChg chg="addSp delSp modSp new del mod modClrScheme chgLayout">
        <pc:chgData name="Fraser, Simon" userId="938a3ba4-1245-47ad-a85f-392b3ba5632d" providerId="ADAL" clId="{464EDC65-2814-4945-AE3B-42F7CC29B15A}" dt="2023-12-03T15:42:48.301" v="694" actId="47"/>
        <pc:sldMkLst>
          <pc:docMk/>
          <pc:sldMk cId="941376476" sldId="475"/>
        </pc:sldMkLst>
        <pc:spChg chg="mod ord">
          <ac:chgData name="Fraser, Simon" userId="938a3ba4-1245-47ad-a85f-392b3ba5632d" providerId="ADAL" clId="{464EDC65-2814-4945-AE3B-42F7CC29B15A}" dt="2023-12-03T15:42:20.172" v="692" actId="700"/>
          <ac:spMkLst>
            <pc:docMk/>
            <pc:sldMk cId="941376476" sldId="475"/>
            <ac:spMk id="2" creationId="{1FF56D8A-CD38-7F21-BBF6-9576805DD358}"/>
          </ac:spMkLst>
        </pc:spChg>
        <pc:spChg chg="del mod ord">
          <ac:chgData name="Fraser, Simon" userId="938a3ba4-1245-47ad-a85f-392b3ba5632d" providerId="ADAL" clId="{464EDC65-2814-4945-AE3B-42F7CC29B15A}" dt="2023-12-03T15:42:20.172" v="692" actId="700"/>
          <ac:spMkLst>
            <pc:docMk/>
            <pc:sldMk cId="941376476" sldId="475"/>
            <ac:spMk id="3" creationId="{904863BA-A75D-9FDA-C8CF-914998B5172E}"/>
          </ac:spMkLst>
        </pc:spChg>
        <pc:spChg chg="add mod ord">
          <ac:chgData name="Fraser, Simon" userId="938a3ba4-1245-47ad-a85f-392b3ba5632d" providerId="ADAL" clId="{464EDC65-2814-4945-AE3B-42F7CC29B15A}" dt="2023-12-03T15:42:20.172" v="692" actId="700"/>
          <ac:spMkLst>
            <pc:docMk/>
            <pc:sldMk cId="941376476" sldId="475"/>
            <ac:spMk id="4" creationId="{06C99C56-D1EF-5392-97BD-B2C7B0F0422F}"/>
          </ac:spMkLst>
        </pc:spChg>
        <pc:spChg chg="add mod ord">
          <ac:chgData name="Fraser, Simon" userId="938a3ba4-1245-47ad-a85f-392b3ba5632d" providerId="ADAL" clId="{464EDC65-2814-4945-AE3B-42F7CC29B15A}" dt="2023-12-03T15:42:20.172" v="692" actId="700"/>
          <ac:spMkLst>
            <pc:docMk/>
            <pc:sldMk cId="941376476" sldId="475"/>
            <ac:spMk id="5" creationId="{6B77F387-DBAE-B9D3-282C-A211B57A9AAE}"/>
          </ac:spMkLst>
        </pc:spChg>
      </pc:sldChg>
      <pc:sldChg chg="del">
        <pc:chgData name="Fraser, Simon" userId="938a3ba4-1245-47ad-a85f-392b3ba5632d" providerId="ADAL" clId="{464EDC65-2814-4945-AE3B-42F7CC29B15A}" dt="2023-12-03T15:34:00.857" v="0" actId="47"/>
        <pc:sldMkLst>
          <pc:docMk/>
          <pc:sldMk cId="3542332920" sldId="475"/>
        </pc:sldMkLst>
      </pc:sldChg>
      <pc:sldChg chg="add">
        <pc:chgData name="Fraser, Simon" userId="938a3ba4-1245-47ad-a85f-392b3ba5632d" providerId="ADAL" clId="{464EDC65-2814-4945-AE3B-42F7CC29B15A}" dt="2023-12-03T15:42:45.736" v="693"/>
        <pc:sldMkLst>
          <pc:docMk/>
          <pc:sldMk cId="97876854" sldId="476"/>
        </pc:sldMkLst>
      </pc:sldChg>
      <pc:sldChg chg="del">
        <pc:chgData name="Fraser, Simon" userId="938a3ba4-1245-47ad-a85f-392b3ba5632d" providerId="ADAL" clId="{464EDC65-2814-4945-AE3B-42F7CC29B15A}" dt="2023-12-03T15:34:00.857" v="0" actId="47"/>
        <pc:sldMkLst>
          <pc:docMk/>
          <pc:sldMk cId="588501200" sldId="4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ECE3D9-6000-45D2-96FD-24A5CC8A89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F3892-9B9A-4EB6-A135-0CBC69C5B4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6809E-A18B-4FA1-8376-36359C959F1C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1BD5A-82D6-4DA2-8350-F35462BCE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B094A-4C9B-45E0-B065-A8A38F3DE1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3122D-34CF-476D-8107-C9A8B049E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54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4F7F0-B2B5-4309-ACB8-ABEA1BC32120}" type="datetimeFigureOut">
              <a:rPr lang="en-GB" smtClean="0"/>
              <a:t>03/12/2023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1CE07-3DAF-452E-A5FA-F37DCF4118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0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A87B-E002-9549-9BF4-F63E781E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A05-39EF-47B2-943A-D2DC08060BDA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7D2D-E16C-954D-9ECE-14706A18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36B17-61F9-E642-B049-DEB9994E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B0F777-E234-42D5-8C54-9688AAA37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5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FAD2-B40C-C54C-803F-998CCC5D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D3DA7-F76A-4795-9F4F-7AFD313F8EB5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B8E39-5A90-2348-A545-F736D2D5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FB88B-56F7-BC40-A4B0-6B41963A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100CB-BB59-4697-B2DC-7732C0A8CD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079A285-FC21-4C14-81A3-013DAC946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2A4A8-8B35-CF4A-9F8B-D89855F3330A}"/>
              </a:ext>
            </a:extLst>
          </p:cNvPr>
          <p:cNvSpPr/>
          <p:nvPr userDrawn="1"/>
        </p:nvSpPr>
        <p:spPr>
          <a:xfrm>
            <a:off x="417689" y="338667"/>
            <a:ext cx="1851378" cy="1083733"/>
          </a:xfrm>
          <a:prstGeom prst="rect">
            <a:avLst/>
          </a:prstGeom>
          <a:solidFill>
            <a:srgbClr val="009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E5F46-54FF-5A48-A3EC-8A5105271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554" y="444688"/>
            <a:ext cx="2340000" cy="116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6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3D957-37C4-3149-A615-BA27376F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AE26-B260-4B4C-868C-D70DA08E5139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84549-B45E-984E-80AA-284151F8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937A-FA5C-604F-99B5-4FF1079C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18BF3-E420-4A02-99AA-6FC98827E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7394A2A-6D12-46B7-AAD5-4A9BC103A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BA30A-3770-4F4E-9FE3-FAB19B531E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554" y="444688"/>
            <a:ext cx="2340000" cy="116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9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FB0C-88CD-474B-A77C-B2308528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A6A01-6C91-41B1-BAA9-64D291C6C8E8}" type="datetime1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6E6-20A4-3B4C-8671-D3A1D2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726E-91D2-A044-AA3B-EA636B5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5AD5-07A5-4C77-AF5E-7B6F25871B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7889" y="3471105"/>
            <a:ext cx="3846689" cy="127897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E86CD6-3D6D-EA44-B0C8-2A4B239CB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544" y="212624"/>
            <a:ext cx="2340000" cy="163944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0DD24ED-37BE-394C-8D9F-604A00988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889" y="2371273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4782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FB0C-88CD-474B-A77C-B2308528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0330-B2AC-48A9-8E66-76284548A447}" type="datetime1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6E6-20A4-3B4C-8671-D3A1D2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726E-91D2-A044-AA3B-EA636B5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5AD5-07A5-4C77-AF5E-7B6F25871B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1656141"/>
            <a:ext cx="11156213" cy="47002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0DD24ED-37BE-394C-8D9F-604A00988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6" y="569815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B4152-FF41-DB41-B010-AF1DCDD0B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285" y="207344"/>
            <a:ext cx="1620000" cy="113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3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FB0C-88CD-474B-A77C-B2308528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CD2C-E30D-4978-995F-34C9F5526276}" type="datetime1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6E6-20A4-3B4C-8671-D3A1D2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726E-91D2-A044-AA3B-EA636B5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5AD5-07A5-4C77-AF5E-7B6F25871B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1656141"/>
            <a:ext cx="11156213" cy="470020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0DD24ED-37BE-394C-8D9F-604A00988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6" y="569815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845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918C2-5EF1-FA47-B80D-CA95DD68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1E377-74DE-40A4-9E72-763EC77D59EC}" type="datetime1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6EFEE-8937-D24F-B42B-8CF58145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8F660-2C85-A141-88E2-1E82F57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CC116-3B83-4913-83B7-1B3EB87095C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130E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376443-DB4F-429F-A8EC-273541967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6" y="524659"/>
            <a:ext cx="9293546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4A989FD-66BE-4C4F-9FBF-C857B619BF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1554541"/>
            <a:ext cx="11178791" cy="480180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ABD5FA-A3EF-6E4C-9F09-7432597D57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5309" y="455977"/>
            <a:ext cx="1531862" cy="7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5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918C2-5EF1-FA47-B80D-CA95DD68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667-6791-45DE-9B32-ED10300E2658}" type="datetime1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6EFEE-8937-D24F-B42B-8CF58145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8F660-2C85-A141-88E2-1E82F57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CC116-3B83-4913-83B7-1B3EB87095C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130E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376443-DB4F-429F-A8EC-273541967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7" y="1737517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4A989FD-66BE-4C4F-9FBF-C857B619BF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3473652"/>
            <a:ext cx="2943225" cy="3651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64519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2E911-1C7A-DB41-98EE-13939D27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14C5-1D33-49B1-B368-C9247BD809A4}" type="datetime1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96F66-3F2E-B240-AB4A-D6138736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F4EB1-62A6-FA47-8FFE-B039305A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4577C-23CB-4C69-A8D5-DCF83984D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9FDF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A2B159F-4FC2-460B-B34F-EDC587A63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802" y="5439102"/>
            <a:ext cx="4786131" cy="662060"/>
          </a:xfrm>
          <a:solidFill>
            <a:srgbClr val="009FDF"/>
          </a:solidFill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FDE96-F7B0-224C-A929-1BEC3DD64E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554" y="444688"/>
            <a:ext cx="1531862" cy="7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3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46D811-D4A3-A74F-A5E4-1F4AFCF8E4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9FDF"/>
          </a:solidFill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2E911-1C7A-DB41-98EE-13939D27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F1B4-0C9C-47AC-B925-C5DD17E13732}" type="datetime1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96F66-3F2E-B240-AB4A-D6138736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F4EB1-62A6-FA47-8FFE-B039305A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2B159F-4FC2-460B-B34F-EDC587A63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802" y="5439102"/>
            <a:ext cx="4819998" cy="662060"/>
          </a:xfrm>
          <a:solidFill>
            <a:srgbClr val="009FDF"/>
          </a:solidFill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0859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45B3A-6C18-4FB8-8063-ACEE28AFB0AE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8721B-4E91-4EC8-B323-3D3B2B5406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409972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FA61CB-6CCF-4EE9-80E7-B3FB9EC71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C30C-F2BF-49DA-A116-F250BD4F9081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4218904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DFB3E9-C7F4-4E2A-99BB-675EDAE1C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00F5-836A-425D-AE69-BB725F253ADD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728387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C11594-1981-424B-A61B-D9494C552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49051-3E59-44AD-824B-92079F9C2E6E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2669352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4B27D6-4694-440A-976A-53EDCAE56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E0F45-E1C4-4879-BA3B-BBCE105F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4FE8-AF7D-45D1-8287-4FE968242842}" type="datetime1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7C35E-3DD7-42F1-B105-BF67AB81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0C8EC-B4EC-4B05-89E9-1672E8F5F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D985A2-963B-46E3-A5F0-F3274574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016522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9F8582-F50C-47C0-8865-3073024F85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10F-7BFA-407F-A0B8-C976510992C5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4104364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275973-DA4E-4D7F-B773-E486FB2081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D762-71D1-4C38-B460-0F0D5E32A7E8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4279832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BB5455-985C-4D7F-8740-66B98AE146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0D5B-EFFA-4E03-9B67-0D7CD243BAAB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914148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14F0AF-993E-4AAE-AB32-3F8C2A8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5A1A5-56E8-4E7C-8B9C-231E286BF34A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2105839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6E7AD5-AB9B-4316-9A5C-92771F394823}" type="datetime1">
              <a:rPr lang="en-US" smtClean="0"/>
              <a:t>12/3/2023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7A94C6-B067-4CF3-BC67-AE2A57432EA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4218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A87B-E002-9549-9BF4-F63E781E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4521-BF9C-456A-A41C-C5E8894D4FC3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7D2D-E16C-954D-9ECE-14706A18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36B17-61F9-E642-B049-DEB9994E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B0F777-E234-42D5-8C54-9688AAA37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64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FAD2-B40C-C54C-803F-998CCC5D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D633-FF80-472F-8B55-B253E9AB90C5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B8E39-5A90-2348-A545-F736D2D5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FB88B-56F7-BC40-A4B0-6B41963A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100CB-BB59-4697-B2DC-7732C0A8CD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079A285-FC21-4C14-81A3-013DAC946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2A4A8-8B35-CF4A-9F8B-D89855F3330A}"/>
              </a:ext>
            </a:extLst>
          </p:cNvPr>
          <p:cNvSpPr/>
          <p:nvPr userDrawn="1"/>
        </p:nvSpPr>
        <p:spPr>
          <a:xfrm>
            <a:off x="417689" y="338667"/>
            <a:ext cx="1851378" cy="1083733"/>
          </a:xfrm>
          <a:prstGeom prst="rect">
            <a:avLst/>
          </a:prstGeom>
          <a:solidFill>
            <a:srgbClr val="009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E5F46-54FF-5A48-A3EC-8A5105271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554" y="444688"/>
            <a:ext cx="2340000" cy="116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649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3D957-37C4-3149-A615-BA27376F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50CC-C8E6-432E-AC3B-B1D97B34C2A5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84549-B45E-984E-80AA-284151F8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937A-FA5C-604F-99B5-4FF1079C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18BF3-E420-4A02-99AA-6FC98827E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7394A2A-6D12-46B7-AAD5-4A9BC103A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BA30A-3770-4F4E-9FE3-FAB19B531E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554" y="444688"/>
            <a:ext cx="2340000" cy="116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28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FB0C-88CD-474B-A77C-B2308528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9833-D722-4C11-AA60-B4367D38FF57}" type="datetime1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6E6-20A4-3B4C-8671-D3A1D2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726E-91D2-A044-AA3B-EA636B5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5AD5-07A5-4C77-AF5E-7B6F25871B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7889" y="3471105"/>
            <a:ext cx="3846689" cy="127897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E86CD6-3D6D-EA44-B0C8-2A4B239CB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544" y="212624"/>
            <a:ext cx="2340000" cy="163944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0DD24ED-37BE-394C-8D9F-604A00988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889" y="2371273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75926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FB0C-88CD-474B-A77C-B2308528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4B8A-AE6A-46F7-BE9E-5C77AF3D02CD}" type="datetime1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6E6-20A4-3B4C-8671-D3A1D2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726E-91D2-A044-AA3B-EA636B5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5AD5-07A5-4C77-AF5E-7B6F25871B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1656141"/>
            <a:ext cx="11156213" cy="470020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0DD24ED-37BE-394C-8D9F-604A00988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6" y="569815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B4152-FF41-DB41-B010-AF1DCDD0B1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285" y="207344"/>
            <a:ext cx="1620000" cy="113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642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1FB0C-88CD-474B-A77C-B2308528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389C2-D26A-40EC-AF4D-021B3657BD6F}" type="datetime1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6E6-20A4-3B4C-8671-D3A1D2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726E-91D2-A044-AA3B-EA636B57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5AD5-07A5-4C77-AF5E-7B6F25871B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1656141"/>
            <a:ext cx="11156213" cy="470020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0DD24ED-37BE-394C-8D9F-604A00988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6" y="569815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537293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918C2-5EF1-FA47-B80D-CA95DD68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AF4C8-7020-4825-9D24-3EEEDB2A1C44}" type="datetime1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6EFEE-8937-D24F-B42B-8CF58145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8F660-2C85-A141-88E2-1E82F57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CC116-3B83-4913-83B7-1B3EB87095C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130E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376443-DB4F-429F-A8EC-273541967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6" y="524659"/>
            <a:ext cx="9293546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4A989FD-66BE-4C4F-9FBF-C857B619BF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1554541"/>
            <a:ext cx="11178791" cy="480180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ABD5FA-A3EF-6E4C-9F09-7432597D57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5309" y="455977"/>
            <a:ext cx="1531862" cy="7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01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918C2-5EF1-FA47-B80D-CA95DD68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48CB-7E88-4D2E-94BB-3971DAFB70AE}" type="datetime1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6EFEE-8937-D24F-B42B-8CF58145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8F660-2C85-A141-88E2-1E82F57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CC116-3B83-4913-83B7-1B3EB87095C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130E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376443-DB4F-429F-A8EC-273541967C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077" y="1737517"/>
            <a:ext cx="7494003" cy="772528"/>
          </a:xfrm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rgbClr val="009FD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4A989FD-66BE-4C4F-9FBF-C857B619BF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076" y="3473652"/>
            <a:ext cx="2943225" cy="3651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8017867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2E911-1C7A-DB41-98EE-13939D27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9BCAA-74BC-49ED-9BE3-0F0F3807E9E6}" type="datetime1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96F66-3F2E-B240-AB4A-D6138736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F4EB1-62A6-FA47-8FFE-B039305A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4577C-23CB-4C69-A8D5-DCF83984D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9FDF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A2B159F-4FC2-460B-B34F-EDC587A63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802" y="5439102"/>
            <a:ext cx="4786131" cy="662060"/>
          </a:xfrm>
          <a:solidFill>
            <a:srgbClr val="009FDF"/>
          </a:solidFill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FDE96-F7B0-224C-A929-1BEC3DD64E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554" y="444688"/>
            <a:ext cx="1531862" cy="7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71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946D811-D4A3-A74F-A5E4-1F4AFCF8E4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9FDF"/>
          </a:solidFill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2E911-1C7A-DB41-98EE-13939D27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943C-D879-446F-8AC3-910CBB6BA213}" type="datetime1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96F66-3F2E-B240-AB4A-D6138736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F4EB1-62A6-FA47-8FFE-B039305A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2B159F-4FC2-460B-B34F-EDC587A63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802" y="5439102"/>
            <a:ext cx="4819998" cy="662060"/>
          </a:xfrm>
          <a:solidFill>
            <a:srgbClr val="009FDF"/>
          </a:solidFill>
        </p:spPr>
        <p:txBody>
          <a:bodyPr anchor="b">
            <a:norm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239399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B511-14F1-45A8-91B9-CE1CAF73EFAA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8721B-4E91-4EC8-B323-3D3B2B5406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7058781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FA61CB-6CCF-4EE9-80E7-B3FB9EC71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F9FA-DF4E-4223-870F-FC9984BBC569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3076237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DFB3E9-C7F4-4E2A-99BB-675EDAE1C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B560-15CE-47D9-A828-E88AC91EAD84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31302125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C11594-1981-424B-A61B-D9494C552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556E9-3B31-4E24-AC2C-1E241E3B88CC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30461333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4B27D6-4694-440A-976A-53EDCAE56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E0F45-E1C4-4879-BA3B-BBCE105F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30B0-8B47-47FA-891E-4CCF591D8E38}" type="datetime1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7C35E-3DD7-42F1-B105-BF67AB81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0C8EC-B4EC-4B05-89E9-1672E8F5F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D985A2-963B-46E3-A5F0-F3274574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2530710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9F8582-F50C-47C0-8865-3073024F85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4680-5DCC-4EEF-BC51-28B243FD38A2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6763878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275973-DA4E-4D7F-B773-E486FB2081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B03EB-46F2-4D6B-B77D-36219D75A5D2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503272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BB5455-985C-4D7F-8740-66B98AE146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D1D2-C5D2-4A94-849C-46F83C542E78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3888256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no imag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14F0AF-993E-4AAE-AB32-3F8C2A8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63A48-AA8D-AC49-A292-AA96182B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CB3C-1E91-4C77-9DB2-23D368F6523F}" type="datetime1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46F79-8F93-D847-B74C-47DBD0D9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386B-13DC-F545-83D0-0EF08D0B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59AD8F-78EB-4102-89D7-E6D567C0B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52273"/>
            <a:ext cx="7494003" cy="772528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2138615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99EB-19C8-4F5B-B89C-DB11A47038B3}" type="datetime1">
              <a:rPr lang="en-US" smtClean="0"/>
              <a:t>12/3/2023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C17C6-92A8-4903-92D7-68D6EDFDB6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19666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80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11D3192-8529-4BAB-A783-69D67FB11629}" type="datetime1">
              <a:rPr lang="en-US" smtClean="0"/>
              <a:t>12/3/2023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20C17C6-92A8-4903-92D7-68D6EDFDB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6679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12C58-12F4-49CF-BDCB-F71E0101821D}" type="datetime1">
              <a:rPr lang="en-US" smtClean="0"/>
              <a:t>12/3/2023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C17C6-92A8-4903-92D7-68D6EDFDB6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32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C3919-38C4-6B45-A6E9-70C35211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F0E89-ED38-0448-8C49-D8B27EE02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4BA73-0C1A-224D-95D7-F1E5E9AB3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2E8E3-0FF5-41F3-9176-919A97F7E289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5772-93B1-1E41-986C-8BCFDB84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2975-8E4D-6743-ADD0-4A39EC6A4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7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8" r:id="rId5"/>
    <p:sldLayoutId id="2147483671" r:id="rId6"/>
    <p:sldLayoutId id="2147483653" r:id="rId7"/>
    <p:sldLayoutId id="2147483670" r:id="rId8"/>
    <p:sldLayoutId id="2147483669" r:id="rId9"/>
    <p:sldLayoutId id="2147483654" r:id="rId10"/>
    <p:sldLayoutId id="2147483655" r:id="rId11"/>
    <p:sldLayoutId id="2147483660" r:id="rId12"/>
    <p:sldLayoutId id="2147483661" r:id="rId13"/>
    <p:sldLayoutId id="2147483662" r:id="rId14"/>
    <p:sldLayoutId id="2147483667" r:id="rId15"/>
    <p:sldLayoutId id="2147483663" r:id="rId16"/>
    <p:sldLayoutId id="2147483664" r:id="rId17"/>
    <p:sldLayoutId id="2147483665" r:id="rId18"/>
    <p:sldLayoutId id="2147483666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C3919-38C4-6B45-A6E9-70C35211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F0E89-ED38-0448-8C49-D8B27EE02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4BA73-0C1A-224D-95D7-F1E5E9AB3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2D748-E3EA-489D-AC63-67DB962944CA}" type="datetime1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5772-93B1-1E41-986C-8BCFDB84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2975-8E4D-6743-ADD0-4A39EC6A4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6B147-1C8A-A447-BBAC-D422CEF64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  <p:sldLayoutId id="2147483827" r:id="rId20"/>
    <p:sldLayoutId id="2147483828" r:id="rId21"/>
    <p:sldLayoutId id="2147483829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3109-6CB7-4D7A-80E4-E739FEE9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2273"/>
            <a:ext cx="10365509" cy="772528"/>
          </a:xfrm>
        </p:spPr>
        <p:txBody>
          <a:bodyPr>
            <a:normAutofit/>
          </a:bodyPr>
          <a:lstStyle/>
          <a:p>
            <a:r>
              <a:rPr lang="en-GB" dirty="0"/>
              <a:t>Week 12 – Advanced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91369-40B9-4D2A-A66E-19FB19B5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4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E4A9A0-1C13-4296-ACDE-9F1DCE53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723A0-7BE2-44FC-964C-C06DF7A18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Flask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Facial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ChatGPT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 Encryption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Voice Recognition and APIs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EA47F3-904C-4196-8BF5-8B9E583D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Topics </a:t>
            </a:r>
          </a:p>
        </p:txBody>
      </p:sp>
    </p:spTree>
    <p:extLst>
      <p:ext uri="{BB962C8B-B14F-4D97-AF65-F5344CB8AC3E}">
        <p14:creationId xmlns:p14="http://schemas.microsoft.com/office/powerpoint/2010/main" val="323044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E3A7D1-11D6-3E28-6236-69A73F23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5CC853-9E5C-41EF-A68C-B1F3DDD3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Flask Apps</a:t>
            </a:r>
          </a:p>
        </p:txBody>
      </p:sp>
    </p:spTree>
    <p:extLst>
      <p:ext uri="{BB962C8B-B14F-4D97-AF65-F5344CB8AC3E}">
        <p14:creationId xmlns:p14="http://schemas.microsoft.com/office/powerpoint/2010/main" val="218319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EA769-F214-65B8-80ED-89B6DEDD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15A2-F953-EFA4-7771-4E4AC487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Assuming we have a Python program that allows the user to play Rock, Paper, Scissors – let’s see how we can adapt to run in the browser as a web application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54AA83-7EE4-8ADD-BA61-A4E452AD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Flask app – a game</a:t>
            </a:r>
          </a:p>
        </p:txBody>
      </p:sp>
      <p:pic>
        <p:nvPicPr>
          <p:cNvPr id="5" name="Media2_Trim">
            <a:hlinkClick r:id="" action="ppaction://media"/>
            <a:extLst>
              <a:ext uri="{FF2B5EF4-FFF2-40B4-BE49-F238E27FC236}">
                <a16:creationId xmlns:a16="http://schemas.microsoft.com/office/drawing/2014/main" id="{6D85E514-3946-F419-6FD9-BD845018D3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28842" y="2471596"/>
            <a:ext cx="3302291" cy="368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05983-E2B7-EE92-CB88-C4F6EFEF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3BF4F-3D56-3E3C-3759-969D4E1918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Flask is a small and lightweight Python web framework that provides useful tools and features that make creating web applications in Python easier.</a:t>
            </a:r>
          </a:p>
          <a:p>
            <a:endParaRPr lang="en-GB" dirty="0"/>
          </a:p>
          <a:p>
            <a:r>
              <a:rPr lang="en-GB" dirty="0"/>
              <a:t>If you want to get a web application up and running with just one Python file, then Flask is the one for you. It can be deployed locally or remotely.</a:t>
            </a:r>
          </a:p>
          <a:p>
            <a:endParaRPr lang="en-GB" dirty="0"/>
          </a:p>
          <a:p>
            <a:r>
              <a:rPr lang="en-GB" dirty="0"/>
              <a:t>All the heavy lifting is done for you. In this example,</a:t>
            </a:r>
          </a:p>
          <a:p>
            <a:r>
              <a:rPr lang="en-GB" dirty="0"/>
              <a:t>we only have to script two files – </a:t>
            </a:r>
            <a:r>
              <a:rPr lang="en-GB" b="1" dirty="0"/>
              <a:t>home.html </a:t>
            </a:r>
            <a:r>
              <a:rPr lang="en-GB" dirty="0"/>
              <a:t>and </a:t>
            </a:r>
            <a:r>
              <a:rPr lang="en-GB" b="1" dirty="0"/>
              <a:t>game.py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828E2B-2F35-D536-BB2B-3116D074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Flask app?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AA7213-76CA-C3B5-2CC4-B1F9E3624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809" y="3513400"/>
            <a:ext cx="2402846" cy="248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3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CCDEDF-705B-87B1-14F4-BF1FBCD6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7529B-7E14-BE27-53BE-6524B89D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D6582-3FFD-19C1-12F8-7DA65B18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6" y="1656141"/>
            <a:ext cx="4572000" cy="1914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994F64-BB18-2DAE-AD6C-AA708178AEBC}"/>
              </a:ext>
            </a:extLst>
          </p:cNvPr>
          <p:cNvSpPr txBox="1"/>
          <p:nvPr/>
        </p:nvSpPr>
        <p:spPr>
          <a:xfrm>
            <a:off x="539076" y="3902393"/>
            <a:ext cx="110702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First all, import the Flask object from the flask package. You then use it to create your Flask application instance with the name </a:t>
            </a:r>
            <a:r>
              <a:rPr lang="en-GB" sz="1600" b="1" dirty="0"/>
              <a:t>app</a:t>
            </a:r>
            <a:r>
              <a:rPr lang="en-GB" sz="1600" dirty="0"/>
              <a:t>. You pass the special variable </a:t>
            </a:r>
            <a:r>
              <a:rPr lang="en-GB" sz="1600" b="1" dirty="0"/>
              <a:t>__name__ </a:t>
            </a:r>
            <a:r>
              <a:rPr lang="en-GB" sz="1600" dirty="0"/>
              <a:t>that holds the name of the current Python module. It’s used to tell the instance where it’s located—you need this because Flask sets up some paths behind the scenes.</a:t>
            </a:r>
          </a:p>
          <a:p>
            <a:endParaRPr lang="en-GB" sz="1600" dirty="0"/>
          </a:p>
          <a:p>
            <a:r>
              <a:rPr lang="en-GB" sz="1600" dirty="0"/>
              <a:t>Once you create the </a:t>
            </a:r>
            <a:r>
              <a:rPr lang="en-GB" sz="1600" b="1" dirty="0"/>
              <a:t>app</a:t>
            </a:r>
            <a:r>
              <a:rPr lang="en-GB" sz="1600" dirty="0"/>
              <a:t> instance, you use it to handle incoming web requests and send responses to the user. @app.route is a decorator that turns a regular Python function into a Flask view function, which converts the function’s return value into an HTTP response to be displayed by an HTTP client, such as a web browser. You pass the value '/' to @app.route() to signify that this function will respond to web requests for the URL /, which is the main URL.</a:t>
            </a:r>
          </a:p>
        </p:txBody>
      </p:sp>
    </p:spTree>
    <p:extLst>
      <p:ext uri="{BB962C8B-B14F-4D97-AF65-F5344CB8AC3E}">
        <p14:creationId xmlns:p14="http://schemas.microsoft.com/office/powerpoint/2010/main" val="372570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B4B90-82CA-6F6D-8B94-E1B474BF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6D5BB-0832-05A9-12B6-97B959CF85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A62948-542D-CFB7-C7FD-CEFEE43F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1DD02-4373-E3BA-A010-E7D8FDCA8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63" y="1656141"/>
            <a:ext cx="3844309" cy="26980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15A3A6-B3C6-69EC-A6BC-15569DA72154}"/>
              </a:ext>
            </a:extLst>
          </p:cNvPr>
          <p:cNvSpPr txBox="1"/>
          <p:nvPr/>
        </p:nvSpPr>
        <p:spPr>
          <a:xfrm>
            <a:off x="3003175" y="5223517"/>
            <a:ext cx="6002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Here we build </a:t>
            </a:r>
            <a:r>
              <a:rPr lang="en-GB" b="1" dirty="0"/>
              <a:t>outcome</a:t>
            </a:r>
            <a:r>
              <a:rPr lang="en-GB" dirty="0"/>
              <a:t> as a string – notice that we are adding HTML tag to the text. This will be rendered by the web page.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83E6A7-12EA-E730-CFE6-671E7F7AD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275" y="1708174"/>
            <a:ext cx="6640212" cy="25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4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CC63A3-F843-F8BF-E041-C66ACD07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9ECD-DD85-2EB3-AC67-50ABA88EF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18BF8F-3779-34B9-5057-C1461F97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68486-D399-C1AD-2A22-4386A38B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6" y="1656141"/>
            <a:ext cx="5391150" cy="3743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39A13-E64C-360C-C0B3-1B09ACBBE886}"/>
              </a:ext>
            </a:extLst>
          </p:cNvPr>
          <p:cNvSpPr txBox="1"/>
          <p:nvPr/>
        </p:nvSpPr>
        <p:spPr>
          <a:xfrm>
            <a:off x="6320118" y="1909482"/>
            <a:ext cx="50336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the web page request – we have a function that will take in a value from the web page and process it as the user’s choice.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Whatever the user gets told, this will get turned into a data collection and then turned into a JSON string which can be processed by the web page</a:t>
            </a:r>
          </a:p>
        </p:txBody>
      </p:sp>
    </p:spTree>
    <p:extLst>
      <p:ext uri="{BB962C8B-B14F-4D97-AF65-F5344CB8AC3E}">
        <p14:creationId xmlns:p14="http://schemas.microsoft.com/office/powerpoint/2010/main" val="9144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A1EBF-3C8B-E203-DE36-6111297C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587C2E-B4A8-61DB-9FE4-07BB5901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Home.html (html)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584E0-85E7-7847-72ED-4597828F4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1" y="1924050"/>
            <a:ext cx="6362700" cy="300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0887F3-39B9-EEB8-4D31-28DF2E332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220" y="1085850"/>
            <a:ext cx="4833069" cy="36564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3851EF-951A-C0D9-0148-394858520D72}"/>
              </a:ext>
            </a:extLst>
          </p:cNvPr>
          <p:cNvSpPr txBox="1"/>
          <p:nvPr/>
        </p:nvSpPr>
        <p:spPr>
          <a:xfrm>
            <a:off x="1308847" y="5405718"/>
            <a:ext cx="9018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clicked, the button calls a JavaScript function which will populate a div class with the outcome of the user’s choice</a:t>
            </a:r>
          </a:p>
        </p:txBody>
      </p:sp>
    </p:spTree>
    <p:extLst>
      <p:ext uri="{BB962C8B-B14F-4D97-AF65-F5344CB8AC3E}">
        <p14:creationId xmlns:p14="http://schemas.microsoft.com/office/powerpoint/2010/main" val="200835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14473B-BED4-A426-F5DF-9F8B9248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594BE7-C975-7689-A9F8-27434CCD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Home.html (JavaScript)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417CE6-5A1A-8B11-A194-2C7463B32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21" y="1342343"/>
            <a:ext cx="4943475" cy="5067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C8F309-B064-BED0-CC3C-CBBB365F613B}"/>
              </a:ext>
            </a:extLst>
          </p:cNvPr>
          <p:cNvSpPr txBox="1"/>
          <p:nvPr/>
        </p:nvSpPr>
        <p:spPr>
          <a:xfrm>
            <a:off x="6096000" y="1604682"/>
            <a:ext cx="4943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JavaScript function will use AJAX to send the user’s choice to the Python and process the returned JSON data into HTML in the div class</a:t>
            </a:r>
          </a:p>
        </p:txBody>
      </p:sp>
    </p:spTree>
    <p:extLst>
      <p:ext uri="{BB962C8B-B14F-4D97-AF65-F5344CB8AC3E}">
        <p14:creationId xmlns:p14="http://schemas.microsoft.com/office/powerpoint/2010/main" val="675321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4DE107-E628-D05F-3FA0-F9C25709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0AD3D4-1A69-C99D-1059-A6153D8C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Facial Recognition</a:t>
            </a:r>
          </a:p>
        </p:txBody>
      </p:sp>
    </p:spTree>
    <p:extLst>
      <p:ext uri="{BB962C8B-B14F-4D97-AF65-F5344CB8AC3E}">
        <p14:creationId xmlns:p14="http://schemas.microsoft.com/office/powerpoint/2010/main" val="213601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7B8716-327F-E11D-C36C-41C66FAC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3DB047-7CED-896B-0D32-EA84A1B1CD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Facial recognition is a technique that uses computer vision and machine learning to identify and verify human faces in digital images or videos.</a:t>
            </a:r>
          </a:p>
          <a:p>
            <a:endParaRPr lang="en-GB" dirty="0"/>
          </a:p>
          <a:p>
            <a:r>
              <a:rPr lang="en-GB" dirty="0"/>
              <a:t>In a Python context, facial recognition can be implemented using various libraries and frameworks, such as OpenCV, </a:t>
            </a:r>
            <a:r>
              <a:rPr lang="en-GB" dirty="0" err="1"/>
              <a:t>face_recognition</a:t>
            </a:r>
            <a:r>
              <a:rPr lang="en-GB" dirty="0"/>
              <a:t>, </a:t>
            </a:r>
            <a:r>
              <a:rPr lang="en-GB" dirty="0" err="1"/>
              <a:t>dlib</a:t>
            </a:r>
            <a:r>
              <a:rPr lang="en-GB" dirty="0"/>
              <a:t>, and TensorFlow.</a:t>
            </a:r>
          </a:p>
          <a:p>
            <a:endParaRPr lang="en-GB" dirty="0"/>
          </a:p>
          <a:p>
            <a:r>
              <a:rPr lang="en-GB" dirty="0"/>
              <a:t>Facial recognition can be used for various applications, such as security, biometrics, entertainment, and social media.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52112C-864F-27CF-1B33-54B87EBC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facial recognition?</a:t>
            </a:r>
          </a:p>
        </p:txBody>
      </p:sp>
    </p:spTree>
    <p:extLst>
      <p:ext uri="{BB962C8B-B14F-4D97-AF65-F5344CB8AC3E}">
        <p14:creationId xmlns:p14="http://schemas.microsoft.com/office/powerpoint/2010/main" val="1427654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F28F5-883D-880A-11ED-673D14F4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CFDFD-9737-3441-BBC6-A9FC737FA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We need to do two things</a:t>
            </a:r>
          </a:p>
          <a:p>
            <a:endParaRPr lang="en-GB" dirty="0"/>
          </a:p>
          <a:p>
            <a:r>
              <a:rPr lang="en-GB" dirty="0"/>
              <a:t>Create a dataset</a:t>
            </a:r>
          </a:p>
          <a:p>
            <a:endParaRPr lang="en-GB" dirty="0"/>
          </a:p>
          <a:p>
            <a:r>
              <a:rPr lang="en-GB" dirty="0"/>
              <a:t>Test your face against the dataset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5D359-F3B7-4C2E-CAE2-036B94E3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Facial recognition – an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8374C4-B876-E5B6-EF55-04323481F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254" y="1897974"/>
            <a:ext cx="4823659" cy="291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0F0DA-CB3E-25FA-B63C-9F9323C3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00D90-CD41-F21A-25EF-CF0B4DD24C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5499B0-31E1-1372-2AD4-1EE380C1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dataset</a:t>
            </a:r>
          </a:p>
        </p:txBody>
      </p:sp>
      <p:pic>
        <p:nvPicPr>
          <p:cNvPr id="7" name="Screen Recording 6">
            <a:hlinkClick r:id="" action="ppaction://media"/>
            <a:extLst>
              <a:ext uri="{FF2B5EF4-FFF2-40B4-BE49-F238E27FC236}">
                <a16:creationId xmlns:a16="http://schemas.microsoft.com/office/drawing/2014/main" id="{8DFA7434-731F-D590-DD36-E844A16192C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649" end="9778.5192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6336" y="1377599"/>
            <a:ext cx="10607644" cy="534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5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854191-B3C8-35EB-9B6E-7AE2EE95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E5531-C34A-5D38-4FF4-9E7B20E67E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CCF2CA-395B-2D88-4620-12AA4AB61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17ED7E-6E2F-ECB4-0315-34CC7906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1" y="1793717"/>
            <a:ext cx="4572000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D915D7-F1AF-1B0E-64D9-92506507AAC2}"/>
              </a:ext>
            </a:extLst>
          </p:cNvPr>
          <p:cNvSpPr txBox="1"/>
          <p:nvPr/>
        </p:nvSpPr>
        <p:spPr>
          <a:xfrm>
            <a:off x="5767058" y="2154081"/>
            <a:ext cx="4897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A webcam is opened, and there is an attempt to take 60 pics of the user and store them in a folder.</a:t>
            </a:r>
          </a:p>
          <a:p>
            <a:endParaRPr lang="en-GB" dirty="0"/>
          </a:p>
          <a:p>
            <a:endParaRPr lang="en-GB" sz="1800" dirty="0"/>
          </a:p>
          <a:p>
            <a:r>
              <a:rPr lang="en-GB" dirty="0"/>
              <a:t>This is our dataset.</a:t>
            </a:r>
          </a:p>
          <a:p>
            <a:endParaRPr lang="en-GB" sz="1800" dirty="0"/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660274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66397-163B-DA6A-FB17-100EB4FD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AA672-8A64-CA33-BBC8-65D1AD8E1A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4C9083-E549-230E-EB1F-D4B18A19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076" y="569815"/>
            <a:ext cx="8306160" cy="772528"/>
          </a:xfrm>
        </p:spPr>
        <p:txBody>
          <a:bodyPr>
            <a:normAutofit fontScale="90000"/>
          </a:bodyPr>
          <a:lstStyle/>
          <a:p>
            <a:r>
              <a:rPr lang="en-GB" dirty="0"/>
              <a:t>Testing against the dataset (video)</a:t>
            </a:r>
          </a:p>
        </p:txBody>
      </p:sp>
      <p:pic>
        <p:nvPicPr>
          <p:cNvPr id="5" name="Media1(6)">
            <a:hlinkClick r:id="" action="ppaction://media"/>
            <a:extLst>
              <a:ext uri="{FF2B5EF4-FFF2-40B4-BE49-F238E27FC236}">
                <a16:creationId xmlns:a16="http://schemas.microsoft.com/office/drawing/2014/main" id="{088DCC95-554C-CC75-EE2C-C6720BC2BD0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468" end="218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4378" y="1721539"/>
            <a:ext cx="6816222" cy="414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6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A69C0-55DC-523C-AB22-E9D816B4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9C3B-2240-6FDC-97B6-25F22DF2C2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 model is trained from the images and is compared </a:t>
            </a:r>
            <a:r>
              <a:rPr lang="en-GB" dirty="0" err="1"/>
              <a:t>agaisnt</a:t>
            </a:r>
            <a:r>
              <a:rPr lang="en-GB" dirty="0"/>
              <a:t> the face on the camera stream – an arbitrary (magic) score was given in terms of confidence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3B9173-4BB2-9519-25E7-2F1A5855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against the 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9053C6-2355-4309-B534-B8D67A6EC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421998"/>
            <a:ext cx="5532638" cy="376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0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E3505-4390-CBBF-833D-A0F8480F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11A0AC-461A-090E-D98B-C5793320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ChatGPT interface</a:t>
            </a:r>
          </a:p>
        </p:txBody>
      </p:sp>
    </p:spTree>
    <p:extLst>
      <p:ext uri="{BB962C8B-B14F-4D97-AF65-F5344CB8AC3E}">
        <p14:creationId xmlns:p14="http://schemas.microsoft.com/office/powerpoint/2010/main" val="2779781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51B0C4-50E1-D696-F073-25B9B048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B28C4C-4D6C-5A41-A9E4-C288538F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ChatGPT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5EB12E-4ED9-E5CE-26BC-2FC778BDF89E}"/>
              </a:ext>
            </a:extLst>
          </p:cNvPr>
          <p:cNvSpPr txBox="1">
            <a:spLocks/>
          </p:cNvSpPr>
          <p:nvPr/>
        </p:nvSpPr>
        <p:spPr>
          <a:xfrm>
            <a:off x="496711" y="2064270"/>
            <a:ext cx="11156213" cy="4700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rgbClr val="000000"/>
                </a:solidFill>
                <a:latin typeface="arial" panose="020B0604020202020204" pitchFamily="34" charset="0"/>
              </a:rPr>
              <a:t>Using Python, create a front-end (console, GUI, web app) that will allow a user to use ChatGPT according to your parameters.</a:t>
            </a:r>
          </a:p>
          <a:p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174481-F0A9-B431-C999-5D65D28EC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4" y="3240140"/>
            <a:ext cx="10523932" cy="278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49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D4879-0A3D-CEBA-8D34-DBF398DF9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7B28DF-AED9-07F6-355D-E42A032C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Listing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34BC9-D82F-20C8-8FE3-8E19D34D0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93" y="1342343"/>
            <a:ext cx="6163387" cy="54619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CBC1E8-3247-3634-68B6-6FE1D04757DA}"/>
              </a:ext>
            </a:extLst>
          </p:cNvPr>
          <p:cNvSpPr txBox="1"/>
          <p:nvPr/>
        </p:nvSpPr>
        <p:spPr>
          <a:xfrm>
            <a:off x="6927015" y="1213191"/>
            <a:ext cx="472590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Two very hefty libraries are imported</a:t>
            </a:r>
          </a:p>
          <a:p>
            <a:endParaRPr lang="en-GB" dirty="0"/>
          </a:p>
          <a:p>
            <a:r>
              <a:rPr lang="en-GB" b="1" dirty="0" err="1"/>
              <a:t>openai</a:t>
            </a:r>
            <a:r>
              <a:rPr lang="en-GB" dirty="0"/>
              <a:t> – “a </a:t>
            </a:r>
            <a:r>
              <a:rPr lang="en-GB" b="0" i="0" dirty="0">
                <a:solidFill>
                  <a:srgbClr val="24292F"/>
                </a:solidFill>
                <a:effectLst/>
                <a:latin typeface="-apple-system"/>
              </a:rPr>
              <a:t>library provides convenient access to the </a:t>
            </a:r>
            <a:r>
              <a:rPr lang="en-GB" b="0" i="0" dirty="0" err="1">
                <a:solidFill>
                  <a:srgbClr val="24292F"/>
                </a:solidFill>
                <a:effectLst/>
                <a:latin typeface="-apple-system"/>
              </a:rPr>
              <a:t>OpenAI</a:t>
            </a:r>
            <a:r>
              <a:rPr lang="en-GB" b="0" i="0" dirty="0">
                <a:solidFill>
                  <a:srgbClr val="24292F"/>
                </a:solidFill>
                <a:effectLst/>
                <a:latin typeface="-apple-system"/>
              </a:rPr>
              <a:t> API from applications written in the Python language.”</a:t>
            </a:r>
          </a:p>
          <a:p>
            <a:endParaRPr lang="en-GB" dirty="0">
              <a:solidFill>
                <a:srgbClr val="24292F"/>
              </a:solidFill>
              <a:latin typeface="-apple-system"/>
            </a:endParaRPr>
          </a:p>
          <a:p>
            <a:r>
              <a:rPr lang="en-GB" b="1" dirty="0" err="1">
                <a:solidFill>
                  <a:srgbClr val="24292F"/>
                </a:solidFill>
                <a:latin typeface="-apple-system"/>
              </a:rPr>
              <a:t>gradio</a:t>
            </a:r>
            <a:r>
              <a:rPr lang="en-GB" dirty="0">
                <a:solidFill>
                  <a:srgbClr val="24292F"/>
                </a:solidFill>
                <a:latin typeface="-apple-system"/>
              </a:rPr>
              <a:t> – “a l</a:t>
            </a:r>
            <a:r>
              <a:rPr lang="en-GB" b="0" i="0" dirty="0">
                <a:solidFill>
                  <a:srgbClr val="24292F"/>
                </a:solidFill>
                <a:effectLst/>
                <a:latin typeface="-apple-system"/>
              </a:rPr>
              <a:t>ibrary that is used to build machine learning and data science demos and web applications.” This easy to use UI also allows for a temporary public link for demo purposes</a:t>
            </a:r>
          </a:p>
          <a:p>
            <a:endParaRPr lang="en-GB" dirty="0">
              <a:solidFill>
                <a:srgbClr val="24292F"/>
              </a:solidFill>
              <a:latin typeface="-apple-system"/>
            </a:endParaRPr>
          </a:p>
          <a:p>
            <a:r>
              <a:rPr lang="en-GB" dirty="0">
                <a:solidFill>
                  <a:srgbClr val="24292F"/>
                </a:solidFill>
                <a:latin typeface="-apple-system"/>
              </a:rPr>
              <a:t>A message is sent via the API – this message has two properties: role and content </a:t>
            </a:r>
          </a:p>
          <a:p>
            <a:endParaRPr lang="en-GB" dirty="0">
              <a:solidFill>
                <a:srgbClr val="24292F"/>
              </a:solidFill>
              <a:latin typeface="-apple-system"/>
            </a:endParaRPr>
          </a:p>
          <a:p>
            <a:r>
              <a:rPr lang="en-GB" dirty="0">
                <a:solidFill>
                  <a:srgbClr val="24292F"/>
                </a:solidFill>
                <a:latin typeface="-apple-system"/>
              </a:rPr>
              <a:t>Here we giving a system level instruction to how the model should behave</a:t>
            </a:r>
          </a:p>
          <a:p>
            <a:endParaRPr lang="en-GB" dirty="0">
              <a:solidFill>
                <a:srgbClr val="24292F"/>
              </a:solidFill>
              <a:latin typeface="-apple-system"/>
            </a:endParaRPr>
          </a:p>
          <a:p>
            <a:r>
              <a:rPr lang="en-GB" i="1" dirty="0">
                <a:solidFill>
                  <a:srgbClr val="24292F"/>
                </a:solidFill>
                <a:latin typeface="-apple-system"/>
              </a:rPr>
              <a:t>30 lines of code to do something that would have seemed impossible 15 or 20 years ago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921178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5323B6-D8B7-4E07-01D7-A1CE4C46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80952E-9DA4-8C84-6C65-8B103651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Encryption </a:t>
            </a:r>
          </a:p>
        </p:txBody>
      </p:sp>
    </p:spTree>
    <p:extLst>
      <p:ext uri="{BB962C8B-B14F-4D97-AF65-F5344CB8AC3E}">
        <p14:creationId xmlns:p14="http://schemas.microsoft.com/office/powerpoint/2010/main" val="3724646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AD99F-8618-6688-D68B-30F67A5A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22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B80A9-EF3B-7B1F-C368-4ECC86CDDF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 the aid of a GUI, encrypt the contents of a text file and decrypt it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0A4B34-39AF-BAA1-75AA-2A2A28110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Encrypting file contents</a:t>
            </a:r>
          </a:p>
        </p:txBody>
      </p:sp>
      <p:pic>
        <p:nvPicPr>
          <p:cNvPr id="6" name="Media1(1)">
            <a:hlinkClick r:id="" action="ppaction://media"/>
            <a:extLst>
              <a:ext uri="{FF2B5EF4-FFF2-40B4-BE49-F238E27FC236}">
                <a16:creationId xmlns:a16="http://schemas.microsoft.com/office/drawing/2014/main" id="{00DD15F1-280D-D406-1D1B-BB27CC9C2C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8039" y="2751401"/>
            <a:ext cx="73914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9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FD2A0B-4036-55B3-D34F-18F872AC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23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B2CF9-41BD-FF89-D753-597E4744B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Create your GUI</a:t>
            </a:r>
          </a:p>
          <a:p>
            <a:endParaRPr lang="en-GB" dirty="0"/>
          </a:p>
          <a:p>
            <a:r>
              <a:rPr lang="en-GB" dirty="0"/>
              <a:t>Have code for selecting the file</a:t>
            </a:r>
          </a:p>
          <a:p>
            <a:endParaRPr lang="en-GB" dirty="0"/>
          </a:p>
          <a:p>
            <a:r>
              <a:rPr lang="en-GB" dirty="0"/>
              <a:t>Encrypt (using symmetric authenticated cryptography)</a:t>
            </a:r>
          </a:p>
          <a:p>
            <a:endParaRPr lang="en-GB" dirty="0"/>
          </a:p>
          <a:p>
            <a:r>
              <a:rPr lang="en-GB" dirty="0"/>
              <a:t>Decrypt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E30C7E-E56E-47D0-A1FA-3D3642B9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Decomposing the scenario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A5082F-984B-DD24-B0CE-2DF59B48A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564" y="1436907"/>
            <a:ext cx="38195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5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1CC90-47BA-54E5-1B0E-DD42BB88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468205-6484-BBD8-E9D7-6D2195C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 – using </a:t>
            </a:r>
            <a:r>
              <a:rPr lang="en-GB" dirty="0" err="1"/>
              <a:t>Tkinter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AB903D-4308-8D0F-FF47-E0E068DA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22" y="1267485"/>
            <a:ext cx="6943725" cy="3276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43126B-9812-F4D1-D7DC-412BD336F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87" y="1267485"/>
            <a:ext cx="4008251" cy="5309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959B10-95F3-EF0D-4E3E-F9B4AA6FB201}"/>
              </a:ext>
            </a:extLst>
          </p:cNvPr>
          <p:cNvSpPr txBox="1"/>
          <p:nvPr/>
        </p:nvSpPr>
        <p:spPr>
          <a:xfrm>
            <a:off x="5169529" y="4916032"/>
            <a:ext cx="5468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Tkinter is a Python library that can be used to construct basic graphical user interface (GUI) applications.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8941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200A40-5E4E-C1C6-1FF9-F1D6521B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815AFB-A2DA-DCB6-FDB8-20A047F7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for selecting file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FB77FE5-CB29-189F-A088-61CE631293D2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66648" y="1907200"/>
            <a:ext cx="11121788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def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encrypt_button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():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filename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filedialog.askopenfilename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title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JetBrains Mono"/>
              </a:rPr>
              <a:t>"Select The Text File to Encrypt"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filetypes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=((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JetBrains Mono"/>
              </a:rPr>
              <a:t>"text files"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JetBrains Mono"/>
              </a:rPr>
              <a:t>".txt"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),))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file_path.set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(filename)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encryptFile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file_path.get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())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BDEF22-A8EC-C789-7560-A4AF9CCAE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747605"/>
            <a:ext cx="76771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1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6A95DB-60FC-2E74-F69C-3209CC9A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34152-82A8-B806-0624-73E8081AB1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31D9E0-B785-A028-7333-724472FA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Encrypt the file (using Fernet)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723B1-77D8-FA59-6C7D-73FA8AF0D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1" y="1717675"/>
            <a:ext cx="4362450" cy="4638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616CB3-D006-E837-DC6A-CD4C1733C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477" y="1760899"/>
            <a:ext cx="3382822" cy="2294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463563-BA6F-47D9-7FEB-073DE8051C8C}"/>
              </a:ext>
            </a:extLst>
          </p:cNvPr>
          <p:cNvSpPr txBox="1"/>
          <p:nvPr/>
        </p:nvSpPr>
        <p:spPr>
          <a:xfrm>
            <a:off x="5554079" y="4162108"/>
            <a:ext cx="61473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+mj-lt"/>
              </a:rPr>
              <a:t>Fernet is a symmetric encryption technique available to users in the cryptography module in Python that makes it easy to encrypt and decrypt text and provides an easy interface for beginners in cryptography.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600" dirty="0">
              <a:solidFill>
                <a:srgbClr val="000000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secret key is generated and stored in a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file selected by the user has its contents opened, and then encrypted and then written back to the file.</a:t>
            </a:r>
          </a:p>
        </p:txBody>
      </p:sp>
    </p:spTree>
    <p:extLst>
      <p:ext uri="{BB962C8B-B14F-4D97-AF65-F5344CB8AC3E}">
        <p14:creationId xmlns:p14="http://schemas.microsoft.com/office/powerpoint/2010/main" val="2160705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F0E50-AEA7-C970-41E1-D85DACA3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98384-13C2-426E-81C0-83C32AE5DC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640BD0-F2A4-4908-D622-79324FAD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Decrypt the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C6838-F667-68E8-871E-485486F1B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1" y="1772215"/>
            <a:ext cx="3800475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3A5860-F90B-AAAF-5D6B-95F1572D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772215"/>
            <a:ext cx="4352925" cy="3190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EDFE93-9C53-A8C3-8EE5-C093362041FA}"/>
              </a:ext>
            </a:extLst>
          </p:cNvPr>
          <p:cNvSpPr txBox="1"/>
          <p:nvPr/>
        </p:nvSpPr>
        <p:spPr>
          <a:xfrm>
            <a:off x="5124261" y="5269117"/>
            <a:ext cx="6038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file with the encrypted contents is opened, and the contents are decrypted and written back to the file</a:t>
            </a:r>
          </a:p>
        </p:txBody>
      </p:sp>
    </p:spTree>
    <p:extLst>
      <p:ext uri="{BB962C8B-B14F-4D97-AF65-F5344CB8AC3E}">
        <p14:creationId xmlns:p14="http://schemas.microsoft.com/office/powerpoint/2010/main" val="583475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0E999-51F9-FD1A-07CF-A85C371A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28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ED5ECF-F249-55E8-C717-292127EC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Voice Recognition and APIs</a:t>
            </a:r>
          </a:p>
        </p:txBody>
      </p:sp>
    </p:spTree>
    <p:extLst>
      <p:ext uri="{BB962C8B-B14F-4D97-AF65-F5344CB8AC3E}">
        <p14:creationId xmlns:p14="http://schemas.microsoft.com/office/powerpoint/2010/main" val="1266180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B46BFB-FF5A-5963-1805-14D65E23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53D02-E0B3-7B9A-4235-B8D2BF3E04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Here we’re going to say the name of a town or city and display the weather for it onscreen.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9C1A55-B2E4-5D5C-57EF-C1926302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Voice Recognition and APIs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E42F-E9D4-2956-72D2-7AE676447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032" y="2425613"/>
            <a:ext cx="64579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38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E2700-C3F5-6A3F-B7CB-DC15521B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AB864-AC7D-5F91-0864-7F02372A99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We need Voice Recognition software</a:t>
            </a:r>
          </a:p>
          <a:p>
            <a:endParaRPr lang="en-GB" dirty="0"/>
          </a:p>
          <a:p>
            <a:r>
              <a:rPr lang="en-GB" dirty="0"/>
              <a:t>We need to get the word(s) said by the user</a:t>
            </a:r>
          </a:p>
          <a:p>
            <a:endParaRPr lang="en-GB" dirty="0"/>
          </a:p>
          <a:p>
            <a:r>
              <a:rPr lang="en-GB" dirty="0"/>
              <a:t>Pass that word into a real time system that monitors the weather</a:t>
            </a:r>
          </a:p>
          <a:p>
            <a:endParaRPr lang="en-GB" dirty="0"/>
          </a:p>
          <a:p>
            <a:r>
              <a:rPr lang="en-GB" dirty="0"/>
              <a:t>Filter and format the data returned and display it to the user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E5C444-2762-ADAE-8501-7FF818A9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Breaking down the problem</a:t>
            </a:r>
          </a:p>
        </p:txBody>
      </p:sp>
    </p:spTree>
    <p:extLst>
      <p:ext uri="{BB962C8B-B14F-4D97-AF65-F5344CB8AC3E}">
        <p14:creationId xmlns:p14="http://schemas.microsoft.com/office/powerpoint/2010/main" val="688329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12AC48-2D9E-D0A6-7F5D-E4F05BB0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9DEFB5-BF3C-F2B5-BF15-8043C89F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at a high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15857-3110-1CD5-0306-47E70B06C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6" y="1493179"/>
            <a:ext cx="5514975" cy="4981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DB569D-2405-8003-DA41-4B11D4E62786}"/>
              </a:ext>
            </a:extLst>
          </p:cNvPr>
          <p:cNvSpPr txBox="1"/>
          <p:nvPr/>
        </p:nvSpPr>
        <p:spPr>
          <a:xfrm>
            <a:off x="6753885" y="2009869"/>
            <a:ext cx="4899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primary functions here are: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recognize_speech_from_mic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getWeather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getLocation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&amp;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getTime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are secondary functions which make the program more usable for the end-user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getLocation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will return details of the town/city based on the latitude and longitude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getTime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will return the local time of the town based on latitude and longitude</a:t>
            </a:r>
          </a:p>
        </p:txBody>
      </p:sp>
    </p:spTree>
    <p:extLst>
      <p:ext uri="{BB962C8B-B14F-4D97-AF65-F5344CB8AC3E}">
        <p14:creationId xmlns:p14="http://schemas.microsoft.com/office/powerpoint/2010/main" val="2782518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E7776-C5FC-ECE5-0B0B-8C966DDB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7CD4C6-B786-E8B9-9598-AF689425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DBCF3-0DD5-829F-D1B5-D07FBEE5C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0" y="1418575"/>
            <a:ext cx="5619357" cy="5175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0BBB3C-9488-0591-B278-699C012B7C13}"/>
              </a:ext>
            </a:extLst>
          </p:cNvPr>
          <p:cNvSpPr txBox="1"/>
          <p:nvPr/>
        </p:nvSpPr>
        <p:spPr>
          <a:xfrm>
            <a:off x="6337426" y="1502875"/>
            <a:ext cx="58545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key thing to take away here is that we have a loop which let the user get the weather for three cities. The program will ask 5 times for the name of each city.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 use a Python library called </a:t>
            </a: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SpeechRecognition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listen out for the word(s) said by the user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Microphone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instance will get the word, the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Recognizer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instance will recognize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two instances will get passed in the function that will recognize the town or city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654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3E376F-5997-B55C-1C98-1FBDA5EF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4AFC51-B4D2-ABD9-EA31-95476EB8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076" y="334425"/>
            <a:ext cx="8885581" cy="772528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recognize_speech_from_mic</a:t>
            </a:r>
            <a:r>
              <a:rPr lang="en-GB" dirty="0"/>
              <a:t>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54B1B2-3AE3-B8EB-D866-9F35174F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6" y="1291016"/>
            <a:ext cx="3994500" cy="51719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3C3DB-A72D-3FDF-88BE-E82E43801238}"/>
              </a:ext>
            </a:extLst>
          </p:cNvPr>
          <p:cNvSpPr txBox="1"/>
          <p:nvPr/>
        </p:nvSpPr>
        <p:spPr>
          <a:xfrm>
            <a:off x="4888871" y="1539089"/>
            <a:ext cx="70073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Returns a dictionary with three keys: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"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": a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boolean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indicating whether or not the API request was successful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"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error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":   `None` if no error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occured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otherwise a string containing  an error message if the API could not be reached or speech was unrecognizable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"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transcription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": `None` if speech could not be transcribed,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       otherwise a string containing the transcribed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degree of confidence is assigned to what the user says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transcribed text (i.e. the town or city said by the user) then return back to the main function which in turn is passed into the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getWeather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function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33E3C6-F667-5C4B-1315-ADB30EC4C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655" y="4375936"/>
            <a:ext cx="51720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76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AB3E9-2814-4D5B-353F-873F807A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F3A55-885D-6947-2992-4083A9919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363526-BF3B-03F9-357F-22AC3FD0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getWeather</a:t>
            </a:r>
            <a:r>
              <a:rPr lang="en-GB" dirty="0"/>
              <a:t> function (part 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1DBED-01E1-BC52-316D-2080F087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26" y="2084325"/>
            <a:ext cx="5600700" cy="3295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78D88F-2ADE-CF9D-4038-2867FAE902FE}"/>
              </a:ext>
            </a:extLst>
          </p:cNvPr>
          <p:cNvSpPr txBox="1"/>
          <p:nvPr/>
        </p:nvSpPr>
        <p:spPr>
          <a:xfrm>
            <a:off x="6971168" y="2084325"/>
            <a:ext cx="43826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Here we use an API (application programming interface) key to authenticate on the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OpenWeatherMap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website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Once authenticated we can get details of the town or city as a JSON file</a:t>
            </a:r>
          </a:p>
        </p:txBody>
      </p:sp>
    </p:spTree>
    <p:extLst>
      <p:ext uri="{BB962C8B-B14F-4D97-AF65-F5344CB8AC3E}">
        <p14:creationId xmlns:p14="http://schemas.microsoft.com/office/powerpoint/2010/main" val="2542696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D45985-E0E1-DB1E-2CB5-77B7BD62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F664-134C-93B3-6032-7E22A283F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Here we asked for the weather details for Berlin, this is what gets returned from the </a:t>
            </a:r>
            <a:r>
              <a:rPr lang="en-GB" dirty="0" err="1"/>
              <a:t>OpenWeatherMap</a:t>
            </a:r>
            <a:r>
              <a:rPr lang="en-GB" dirty="0"/>
              <a:t> site as a JSON object</a:t>
            </a:r>
          </a:p>
          <a:p>
            <a:endParaRPr lang="en-GB" dirty="0"/>
          </a:p>
          <a:p>
            <a:r>
              <a:rPr lang="en-GB" dirty="0"/>
              <a:t>{'</a:t>
            </a:r>
            <a:r>
              <a:rPr lang="en-GB" dirty="0" err="1"/>
              <a:t>coord</a:t>
            </a:r>
            <a:r>
              <a:rPr lang="en-GB" dirty="0"/>
              <a:t>': {'</a:t>
            </a:r>
            <a:r>
              <a:rPr lang="en-GB" dirty="0" err="1"/>
              <a:t>lon</a:t>
            </a:r>
            <a:r>
              <a:rPr lang="en-GB" dirty="0"/>
              <a:t>': 13.4105, '</a:t>
            </a:r>
            <a:r>
              <a:rPr lang="en-GB" dirty="0" err="1"/>
              <a:t>lat</a:t>
            </a:r>
            <a:r>
              <a:rPr lang="en-GB" dirty="0"/>
              <a:t>': 52.5244}, 'weather': [{'id': 500, 'main': 'Rain', 'description': 'light rain', 'icon': '10d'}], 'base': 'stations', 'main': {'temp': 277.53, '</a:t>
            </a:r>
            <a:r>
              <a:rPr lang="en-GB" dirty="0" err="1"/>
              <a:t>feels_like</a:t>
            </a:r>
            <a:r>
              <a:rPr lang="en-GB" dirty="0"/>
              <a:t>': 272.81, '</a:t>
            </a:r>
            <a:r>
              <a:rPr lang="en-GB" dirty="0" err="1"/>
              <a:t>temp_min</a:t>
            </a:r>
            <a:r>
              <a:rPr lang="en-GB" dirty="0"/>
              <a:t>': 276.53, '</a:t>
            </a:r>
            <a:r>
              <a:rPr lang="en-GB" dirty="0" err="1"/>
              <a:t>temp_max</a:t>
            </a:r>
            <a:r>
              <a:rPr lang="en-GB" dirty="0"/>
              <a:t>': 278.7, 'pressure': 998, 'humidity': 67}, 'visibility': 10000, 'wind': {'speed': 7.15, '</a:t>
            </a:r>
            <a:r>
              <a:rPr lang="en-GB" dirty="0" err="1"/>
              <a:t>deg</a:t>
            </a:r>
            <a:r>
              <a:rPr lang="en-GB" dirty="0"/>
              <a:t>': 194, 'gust': 11.18}, 'rain': {'1h': 0.13}, 'clouds': {'all': 75}, 'dt': 1678637978, 'sys': {'type': 2, 'id': 2011538, 'country': 'DE', 'sunrise': 1678598935, 'sunset': 1678640624}, '</a:t>
            </a:r>
            <a:r>
              <a:rPr lang="en-GB" dirty="0" err="1"/>
              <a:t>timezone</a:t>
            </a:r>
            <a:r>
              <a:rPr lang="en-GB" dirty="0"/>
              <a:t>': 3600, 'id': 2950159, 'name': 'Berlin', 'cod': 200}</a:t>
            </a:r>
          </a:p>
          <a:p>
            <a:endParaRPr lang="en-GB" dirty="0"/>
          </a:p>
          <a:p>
            <a:r>
              <a:rPr lang="en-GB" dirty="0"/>
              <a:t>We can then filter that information accordingly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B2B9C5-A3ED-D7AA-7B8E-C7B2761C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JSON file</a:t>
            </a:r>
          </a:p>
        </p:txBody>
      </p:sp>
    </p:spTree>
    <p:extLst>
      <p:ext uri="{BB962C8B-B14F-4D97-AF65-F5344CB8AC3E}">
        <p14:creationId xmlns:p14="http://schemas.microsoft.com/office/powerpoint/2010/main" val="1055859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FE7C4A-3AC5-D077-C99F-927A2E4C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3F907C-61A2-B061-517E-48402641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getWeather</a:t>
            </a:r>
            <a:r>
              <a:rPr lang="en-GB" dirty="0"/>
              <a:t> function (part ii)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E1DC5-BB21-7118-2DBD-713DB4B0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5" y="1479974"/>
            <a:ext cx="3842801" cy="4863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D423EB-D5E5-E513-FFF1-B30E1DA324CF}"/>
              </a:ext>
            </a:extLst>
          </p:cNvPr>
          <p:cNvSpPr txBox="1"/>
          <p:nvPr/>
        </p:nvSpPr>
        <p:spPr>
          <a:xfrm>
            <a:off x="5332491" y="1738265"/>
            <a:ext cx="50518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this is where we filter the JSON information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Temperature (returned in Kelvin, outputted in Celsius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Pressure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Humidity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Wind Speed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Weather Description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 get the latitude and longitude as well to get the precise details of the town/city and the time zone</a:t>
            </a:r>
          </a:p>
        </p:txBody>
      </p:sp>
    </p:spTree>
    <p:extLst>
      <p:ext uri="{BB962C8B-B14F-4D97-AF65-F5344CB8AC3E}">
        <p14:creationId xmlns:p14="http://schemas.microsoft.com/office/powerpoint/2010/main" val="3463485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96D497-A049-3F11-C26C-73347CFA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E6B147-1C8A-A447-BBAC-D422CEF64D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498AF9-7997-3A5A-5B8E-A3227D5E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076" y="569815"/>
            <a:ext cx="8740726" cy="772528"/>
          </a:xfrm>
        </p:spPr>
        <p:txBody>
          <a:bodyPr>
            <a:noAutofit/>
          </a:bodyPr>
          <a:lstStyle/>
          <a:p>
            <a:r>
              <a:rPr lang="en-GB" sz="3200" dirty="0"/>
              <a:t>Secondary functions – time and location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55A78-28D1-C812-E2D4-56F139611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75" y="1656141"/>
            <a:ext cx="5229727" cy="4632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B901EC-1EAB-E4AD-87F2-EA84A57D42B8}"/>
              </a:ext>
            </a:extLst>
          </p:cNvPr>
          <p:cNvSpPr txBox="1"/>
          <p:nvPr/>
        </p:nvSpPr>
        <p:spPr>
          <a:xfrm>
            <a:off x="6201624" y="1910281"/>
            <a:ext cx="53053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getLocation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will return exact details based on latitude and longitude using a library – the details for Berlin are as follows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{'amenity': 'Platte', 'road': '</a:t>
            </a:r>
            <a:r>
              <a:rPr kumimoji="0" lang="en-GB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Memhardstraße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', 'neighbourhood': '</a:t>
            </a:r>
            <a:r>
              <a:rPr kumimoji="0" lang="en-GB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Scheunenviertel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', 'suburb': 'Mitte', 'borough': 'Mitte', 'city': 'Berlin', 'ISO3166-2-lvl4': 'DE-BE', 'postcode': '10178', 'country': 'Germany', '</a:t>
            </a:r>
            <a:r>
              <a:rPr kumimoji="0" lang="en-GB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country_code</a:t>
            </a: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': 'de’}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getTime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works out the exact time based on the latitude and longitude co-ordinates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537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EF3A1-A9F0-42C7-63B3-36BD9ACE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B147-1C8A-A447-BBAC-D422CEF64DFA}" type="slidenum">
              <a:rPr lang="en-US" smtClean="0"/>
              <a:t>38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932F7-7C23-8637-2AA8-477F7006B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Thank you for being on this module and good luck in your future modules.</a:t>
            </a:r>
          </a:p>
          <a:p>
            <a:endParaRPr lang="en-GB" dirty="0"/>
          </a:p>
          <a:p>
            <a:r>
              <a:rPr lang="en-GB" dirty="0"/>
              <a:t>Hopefully, this has given you a taste for problem solving using programming.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9DE56E-9AF9-E7C1-9CA2-F320FD19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7408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</TotalTime>
  <Words>1783</Words>
  <Application>Microsoft Office PowerPoint</Application>
  <PresentationFormat>Widescreen</PresentationFormat>
  <Paragraphs>208</Paragraphs>
  <Slides>38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-apple-system</vt:lpstr>
      <vt:lpstr>Arial</vt:lpstr>
      <vt:lpstr>Arial</vt:lpstr>
      <vt:lpstr>Calibri</vt:lpstr>
      <vt:lpstr>JetBrains Mono</vt:lpstr>
      <vt:lpstr>Office Theme</vt:lpstr>
      <vt:lpstr>1_Office Theme</vt:lpstr>
      <vt:lpstr>Week 12 – Advanced</vt:lpstr>
      <vt:lpstr>Topics </vt:lpstr>
      <vt:lpstr>Flask Apps</vt:lpstr>
      <vt:lpstr>Flask app – a game</vt:lpstr>
      <vt:lpstr>What is a Flask app?</vt:lpstr>
      <vt:lpstr>Game.py</vt:lpstr>
      <vt:lpstr>Game.py</vt:lpstr>
      <vt:lpstr>Game.py</vt:lpstr>
      <vt:lpstr>Home.html (html)</vt:lpstr>
      <vt:lpstr>Home.html (JavaScript)</vt:lpstr>
      <vt:lpstr>Facial Recognition</vt:lpstr>
      <vt:lpstr>What is facial recognition?</vt:lpstr>
      <vt:lpstr>Facial recognition – an example</vt:lpstr>
      <vt:lpstr>Creating a dataset</vt:lpstr>
      <vt:lpstr>Creating a dataset</vt:lpstr>
      <vt:lpstr>Testing against the dataset (video)</vt:lpstr>
      <vt:lpstr>Testing against the dataset</vt:lpstr>
      <vt:lpstr>ChatGPT interface</vt:lpstr>
      <vt:lpstr>ChatGPT</vt:lpstr>
      <vt:lpstr>Code Listing</vt:lpstr>
      <vt:lpstr>Text Encryption </vt:lpstr>
      <vt:lpstr>Encrypting file contents</vt:lpstr>
      <vt:lpstr>Decomposing the scenario</vt:lpstr>
      <vt:lpstr>GUI – using Tkinter</vt:lpstr>
      <vt:lpstr>Code for selecting file</vt:lpstr>
      <vt:lpstr>Encrypt the file (using Fernet)</vt:lpstr>
      <vt:lpstr>Decrypt the file</vt:lpstr>
      <vt:lpstr>Voice Recognition and APIs</vt:lpstr>
      <vt:lpstr>Voice Recognition and APIs</vt:lpstr>
      <vt:lpstr>Breaking down the problem</vt:lpstr>
      <vt:lpstr>Program at a high level</vt:lpstr>
      <vt:lpstr>Main function</vt:lpstr>
      <vt:lpstr>recognize_speech_from_mic function</vt:lpstr>
      <vt:lpstr>getWeather function (part 1)</vt:lpstr>
      <vt:lpstr>JSON file</vt:lpstr>
      <vt:lpstr>getWeather function (part ii)</vt:lpstr>
      <vt:lpstr>Secondary functions – time and location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McCloskey</dc:creator>
  <cp:lastModifiedBy>Fraser, Simon</cp:lastModifiedBy>
  <cp:revision>28</cp:revision>
  <dcterms:created xsi:type="dcterms:W3CDTF">2019-03-01T14:17:43Z</dcterms:created>
  <dcterms:modified xsi:type="dcterms:W3CDTF">2023-12-03T15:50:24Z</dcterms:modified>
</cp:coreProperties>
</file>